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8E5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John's AI Job-Application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7D6EC"/>
                </a:solidFill>
                <a:latin typeface="Calibri"/>
              </a:rPr>
              <a:t>A plain-English walkthrough of the script that turns any job description into a
matched scorecard, a tailored resume, and a cover letter —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96BC"/>
                </a:solidFill>
                <a:latin typeface="Calibri"/>
              </a:rPr>
              <a:t>scripts/jd_scorecard_resume_v2.py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7CA3"/>
                </a:solidFill>
                <a:latin typeface="Calibri"/>
              </a:rPr>
              <a:t>Prepared for a hiring-manager audience — no coding background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Tailoring a resume for every job is slow — and easy to fake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The old way, three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500" b="1">
                <a:solidFill>
                  <a:srgbClr val="3C475B"/>
                </a:solidFill>
                <a:latin typeface="Calibri"/>
              </a:rPr>
              <a:t>—  Generic resumes lose.</a:t>
            </a:r>
            <a:r>
              <a:rPr sz="1500" b="0">
                <a:solidFill>
                  <a:srgbClr val="3C475B"/>
                </a:solidFill>
                <a:latin typeface="Calibri"/>
              </a:rPr>
              <a:t>  Recruiters can tell in seconds when a resume wasn't tailored to their role.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500" b="1">
                <a:solidFill>
                  <a:srgbClr val="3C475B"/>
                </a:solidFill>
                <a:latin typeface="Calibri"/>
              </a:rPr>
              <a:t>—  Tailoring by hand doesn't scale.</a:t>
            </a:r>
            <a:r>
              <a:rPr sz="1500" b="0">
                <a:solidFill>
                  <a:srgbClr val="3C475B"/>
                </a:solidFill>
                <a:latin typeface="Calibri"/>
              </a:rPr>
              <a:t>  Rewriting a resume + cover letter + gap analysis for every application takes hours.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500" b="1">
                <a:solidFill>
                  <a:srgbClr val="3C475B"/>
                </a:solidFill>
                <a:latin typeface="Calibri"/>
              </a:rPr>
              <a:t>—  "AI-written" often means invented.</a:t>
            </a:r>
            <a:r>
              <a:rPr sz="1500" b="0">
                <a:solidFill>
                  <a:srgbClr val="3C475B"/>
                </a:solidFill>
                <a:latin typeface="Calibri"/>
              </a:rPr>
              <a:t>  Many AI resume tools quietly exaggerate or fabricate experience to look like a better fit.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371600"/>
            <a:ext cx="5166360" cy="4572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E5"/>
                </a:solidFill>
                <a:latin typeface="Calibri"/>
              </a:rPr>
              <a:t>What this script does instead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0">
                <a:solidFill>
                  <a:srgbClr val="0F1F3D"/>
                </a:solidFill>
                <a:latin typeface="Calibri"/>
              </a:rPr>
              <a:t>✓  Reads one job description and John's single verified profile.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0">
                <a:solidFill>
                  <a:srgbClr val="0F1F3D"/>
                </a:solidFill>
                <a:latin typeface="Calibri"/>
              </a:rPr>
              <a:t>✓  Produces a scorecard, a tailored resume, and a cover letter — in one run.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0">
                <a:solidFill>
                  <a:srgbClr val="0F1F3D"/>
                </a:solidFill>
                <a:latin typeface="Calibri"/>
              </a:rPr>
              <a:t>✓  Every fact traces back to one source file: no invented jobs, numbers, or skills.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0">
                <a:solidFill>
                  <a:srgbClr val="0F1F3D"/>
                </a:solidFill>
                <a:latin typeface="Calibri"/>
              </a:rPr>
              <a:t>✓  Honestly flags gaps instead of papering over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One input, three documents, zero manual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2/9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291840" cy="173736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" cy="17373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8E5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F3D"/>
                </a:solidFill>
                <a:latin typeface="Calibri"/>
              </a:rPr>
              <a:t>A job description
(the JD)</a:t>
            </a:r>
          </a:p>
        </p:txBody>
      </p:sp>
      <p:sp>
        <p:nvSpPr>
          <p:cNvPr id="10" name="Chevron 9"/>
          <p:cNvSpPr/>
          <p:nvPr/>
        </p:nvSpPr>
        <p:spPr>
          <a:xfrm>
            <a:off x="3813048" y="2240280"/>
            <a:ext cx="274320" cy="365760"/>
          </a:xfrm>
          <a:prstGeom prst="chevron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1554480"/>
            <a:ext cx="3291840" cy="173736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109728" cy="17373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E5A"/>
                </a:solidFill>
                <a:latin typeface="Calibri"/>
              </a:rPr>
              <a:t>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F3D"/>
                </a:solidFill>
                <a:latin typeface="Calibri"/>
              </a:rPr>
              <a:t>John's verified profile
(john_profile.json)</a:t>
            </a:r>
          </a:p>
        </p:txBody>
      </p:sp>
      <p:sp>
        <p:nvSpPr>
          <p:cNvPr id="15" name="Chevron 14"/>
          <p:cNvSpPr/>
          <p:nvPr/>
        </p:nvSpPr>
        <p:spPr>
          <a:xfrm>
            <a:off x="7424928" y="2240280"/>
            <a:ext cx="274320" cy="365760"/>
          </a:xfrm>
          <a:prstGeom prst="chevron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26680" y="1554480"/>
            <a:ext cx="3291840" cy="173736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80" y="1554480"/>
            <a:ext cx="109728" cy="173736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1691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6A00"/>
                </a:solidFill>
                <a:latin typeface="Calibri"/>
              </a:rPr>
              <a:t>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11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1F3D"/>
                </a:solidFill>
                <a:latin typeface="Calibri"/>
              </a:rPr>
              <a:t>Reads both, matches them
against each 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produces three outputs, every time: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3657600" cy="7315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JD MATCH SCORECARD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75B"/>
                </a:solidFill>
                <a:latin typeface="Calibri"/>
              </a:rPr>
              <a:t>A 0-100 fit score against this specific role, with honest
strengths, gaps, and a recommendation on whether to apply.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023360"/>
            <a:ext cx="365760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TAILORED 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75B"/>
                </a:solidFill>
                <a:latin typeface="Calibri"/>
              </a:rPr>
              <a:t>Same real work history, re-emphasized and re-worded to
speak the JD's language -- key results bolded for a fast read.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4023360"/>
            <a:ext cx="3657600" cy="73152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COVER LETTER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C475B"/>
                </a:solidFill>
                <a:latin typeface="Calibri"/>
              </a:rPr>
              <a:t>A short, role-specific letter connecting John's track record
directly to what this employer said they need.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DEEP DIVE - OUTPUT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Scorecard -- an honest fit assessment, not a sales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What it 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Role summary</a:t>
            </a:r>
            <a:r>
              <a:rPr sz="1400" b="0">
                <a:solidFill>
                  <a:srgbClr val="3C475B"/>
                </a:solidFill>
                <a:latin typeface="Calibri"/>
              </a:rPr>
              <a:t>  what the employer is actually looking for, in plain terms.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Overall score (0-100)</a:t>
            </a:r>
            <a:r>
              <a:rPr sz="1400" b="0">
                <a:solidFill>
                  <a:srgbClr val="3C475B"/>
                </a:solidFill>
                <a:latin typeface="Calibri"/>
              </a:rPr>
              <a:t>  weighted by what matters most for THIS job, not a generic checklist.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8-12 scoring criteria</a:t>
            </a:r>
            <a:r>
              <a:rPr sz="1400" b="0">
                <a:solidFill>
                  <a:srgbClr val="3C475B"/>
                </a:solidFill>
                <a:latin typeface="Calibri"/>
              </a:rPr>
              <a:t>  each with a score, the real evidence behind it, and any gap.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Strengths &amp; gaps</a:t>
            </a:r>
            <a:r>
              <a:rPr sz="1400" b="0">
                <a:solidFill>
                  <a:srgbClr val="3C475B"/>
                </a:solidFill>
                <a:latin typeface="Calibri"/>
              </a:rPr>
              <a:t>  stated plainly -- including where John is a stretch, not just a lock.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Tailoring guidance</a:t>
            </a:r>
            <a:r>
              <a:rPr sz="1400" b="0">
                <a:solidFill>
                  <a:srgbClr val="3C475B"/>
                </a:solidFill>
                <a:latin typeface="Calibri"/>
              </a:rPr>
              <a:t>  concrete suggestions for the resume, interview prep, and certifications.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371600"/>
            <a:ext cx="5166360" cy="4572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E5"/>
                </a:solidFill>
                <a:latin typeface="Calibri"/>
              </a:rPr>
              <a:t>Why a hiring manager should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350" b="0">
                <a:solidFill>
                  <a:srgbClr val="0F1F3D"/>
                </a:solidFill>
                <a:latin typeface="Calibri"/>
              </a:rPr>
              <a:t>✓  It's the same rigor a good recruiter applies -- just automated and applied consistently to every role.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350" b="0">
                <a:solidFill>
                  <a:srgbClr val="0F1F3D"/>
                </a:solidFill>
                <a:latin typeface="Calibri"/>
              </a:rPr>
              <a:t>✓  The score isn't inflated: criteria weights and gaps are worked out per JD, not a fixed template.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350" b="0">
                <a:solidFill>
                  <a:srgbClr val="0F1F3D"/>
                </a:solidFill>
                <a:latin typeface="Calibri"/>
              </a:rPr>
              <a:t>✓  You're seeing the candidate's own self-assessment logic, in the open -- not a black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DEEP DIVE - OUTPUTS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Resume &amp; Cover Letter -- same facts, sharper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480"/>
                </a:solidFill>
                <a:latin typeface="Calibri"/>
              </a:rPr>
              <a:t>What changes per job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Which achievements lead</a:t>
            </a:r>
            <a:r>
              <a:rPr sz="1400" b="0">
                <a:solidFill>
                  <a:srgbClr val="3C475B"/>
                </a:solidFill>
                <a:latin typeface="Calibri"/>
              </a:rPr>
              <a:t>  the bullets most relevant to THIS job are surfaced first.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The language used</a:t>
            </a:r>
            <a:r>
              <a:rPr sz="1400" b="0">
                <a:solidFill>
                  <a:srgbClr val="3C475B"/>
                </a:solidFill>
                <a:latin typeface="Calibri"/>
              </a:rPr>
              <a:t>  reworded to echo the employer's own terms, without changing the facts.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Key numbers bolded</a:t>
            </a:r>
            <a:r>
              <a:rPr sz="1400" b="0">
                <a:solidFill>
                  <a:srgbClr val="3C475B"/>
                </a:solidFill>
                <a:latin typeface="Calibri"/>
              </a:rPr>
              <a:t>  results like "70% efficiency gain" or "HK$3.5M saved" are highlighted for a 6-second skim.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 b="1">
                <a:solidFill>
                  <a:srgbClr val="3C475B"/>
                </a:solidFill>
                <a:latin typeface="Calibri"/>
              </a:rPr>
              <a:t>—  A short bridging section</a:t>
            </a:r>
            <a:r>
              <a:rPr sz="1400" b="0">
                <a:solidFill>
                  <a:srgbClr val="3C475B"/>
                </a:solidFill>
                <a:latin typeface="Calibri"/>
              </a:rPr>
              <a:t>  e.g. "Enterprise Architecture Relevance" -- connects the dots explicitly for this 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What never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3C475B"/>
                </a:solidFill>
                <a:latin typeface="Calibri"/>
              </a:rPr>
              <a:t>=  The employers, job titles, and dates worked.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3C475B"/>
                </a:solidFill>
                <a:latin typeface="Calibri"/>
              </a:rPr>
              <a:t>=  The actual results and figures achieved.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3C475B"/>
                </a:solidFill>
                <a:latin typeface="Calibri"/>
              </a:rPr>
              <a:t>=  No new skills, tools, or certifications are ever added.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3611880"/>
            <a:ext cx="5166360" cy="233172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Both documents are also delivered as ready-to-send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2519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F1F3D"/>
                </a:solidFill>
                <a:latin typeface="Calibri"/>
              </a:rPr>
              <a:t>Word (.docx) files with proper formatting, headers, and bold text -- not just raw text output. They open exactly as you'd expect in Microsoft 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PORTAL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From Script to Self-Service Web App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5/9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F3D"/>
                </a:solidFill>
                <a:latin typeface="Calibri"/>
              </a:rPr>
              <a:t>The same engine -- now a real product, not just a script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965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75B"/>
                </a:solidFill>
                <a:latin typeface="Calibri"/>
              </a:rPr>
              <a:t>Built and refined the same day changes were requested: a secure login, a full history of past applications, and no black-box output -- every change checked against the real, running app before being called done.</a:t>
            </a:r>
          </a:p>
        </p:txBody>
      </p:sp>
      <p:sp>
        <p:nvSpPr>
          <p:cNvPr id="8" name="Rectangle 8"/>
          <p:cNvSpPr/>
          <p:nvPr/>
        </p:nvSpPr>
        <p:spPr>
          <a:xfrm>
            <a:off x="502920" y="2971800"/>
            <a:ext cx="5394960" cy="1500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9"/>
          <p:cNvSpPr/>
          <p:nvPr/>
        </p:nvSpPr>
        <p:spPr>
          <a:xfrm>
            <a:off x="502920" y="2971800"/>
            <a:ext cx="5394960" cy="91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77724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Paste, Click, Done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" y="3611880"/>
            <a:ext cx="4846320" cy="75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Paste a job description and click Run -- the Scorecard, Resume, and Cover Letter come back in the browser, ready to read. No command line, no manual file handling.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26480" y="2971800"/>
            <a:ext cx="5394960" cy="1500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3"/>
          <p:cNvSpPr/>
          <p:nvPr/>
        </p:nvSpPr>
        <p:spPr>
          <a:xfrm>
            <a:off x="6126480" y="2971800"/>
            <a:ext cx="5394960" cy="91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640080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A Full, Organized History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0800" y="3611880"/>
            <a:ext cx="4846320" cy="75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Every past application is saved automatically and grouped by employer, so past scorecards, resumes, and cover letters are always easy to find again.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02920" y="4700400"/>
            <a:ext cx="5394960" cy="1500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502920" y="4700400"/>
            <a:ext cx="5394960" cy="9144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777240" y="49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Configurable, Never a Black Box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7240" y="5340480"/>
            <a:ext cx="4846320" cy="75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Choose the AI model for a run and see the exact command it will execute before clicking Run -- nothing happens without a clear, visible reason.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26480" y="4700400"/>
            <a:ext cx="5394960" cy="15000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1"/>
          <p:cNvSpPr/>
          <p:nvPr/>
        </p:nvSpPr>
        <p:spPr>
          <a:xfrm>
            <a:off x="6126480" y="4700400"/>
            <a:ext cx="5394960" cy="9144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6400800" y="49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Secure by Design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00800" y="5340480"/>
            <a:ext cx="4846320" cy="75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Access requires a password plus a one-time code, and any personal API key you add is stored only on the server, never shown again once saved.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THE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the output can be trusted, not just polished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6/9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90472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One single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Every fact must come from one verified file -- John's real career history. Nothing else is allowed 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60904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invented years, titles, or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The system is explicitly instructed never to overstate experience -- even softening exact figures like "27 years" to "extensive years" rather than risk a stale or overly-precise claim.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31336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7581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Adjacent is not the same as direct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If a job asks for something John hasn't done exactly, the system must say so honestly -- it can show relevant, related experience, but is not allowed to claim direct hands-on experience that isn't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017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9286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Every run is checked, not assumed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9437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6EC"/>
                </a:solidFill>
                <a:latin typeface="Calibri"/>
              </a:rPr>
              <a:t>Nothing is marked "done" until it has actually been run and the output has been inspected -- output is produced, not just described.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this means for you as a hiring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FB8DA"/>
                </a:solidFill>
                <a:latin typeface="Calibri"/>
              </a:rPr>
              <a:t>7/9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F3D"/>
                </a:solidFill>
                <a:latin typeface="Calibri"/>
              </a:rPr>
              <a:t>You're not reading a generic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C475B"/>
                </a:solidFill>
                <a:latin typeface="Calibri"/>
              </a:rPr>
              <a:t>Every resume and cover letter you receive was generated specifically against your job description, using the same job-matching logic shown on the scorecard -- and grounded entirely in a single, honest record of real work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3520440" cy="306324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971800"/>
            <a:ext cx="3520440" cy="91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The same rigorous, criteria-based matching is applied to every application -- not just the ones John felt like polishing.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971800"/>
            <a:ext cx="3520440" cy="306324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2971800"/>
            <a:ext cx="3520440" cy="91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Honesty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Gaps are disclosed, not hidden. Adjacent experience is labeled as adjacent, never dressed up as direct.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971800"/>
            <a:ext cx="3520440" cy="306324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971800"/>
            <a:ext cx="3520440" cy="9144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F3D"/>
                </a:solidFill>
                <a:latin typeface="Calibri"/>
              </a:rPr>
              <a:t>Speed without sloppiness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8404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C475B"/>
                </a:solidFill>
                <a:latin typeface="Calibri"/>
              </a:rPr>
              <a:t>A fully tailored application in minutes, not hours -- with formatting, tone, and content all matched to the role.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jd_scorecard_resume_v2.py  |  John Hau  |  23 Jul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46000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502920" y="100000"/>
            <a:ext cx="260000" cy="260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92920" y="135000"/>
            <a:ext cx="4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" y="13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Automation Portal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0" y="130000"/>
            <a:ext cx="2688775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480"/>
                </a:solidFill>
                <a:latin typeface="Calibri"/>
              </a:rPr>
              <a:t>Back to Career Copilot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8/9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2920" y="560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LIVE DEMO  --  1 OF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850000"/>
            <a:ext cx="105156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Configuring a Real Run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1300000"/>
            <a:ext cx="10515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FWD Group  |  IT Director, Resilience Modernization  --  from the live portal, not a slide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02920" y="1706880"/>
            <a:ext cx="5578560" cy="228600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731520" y="1866880"/>
            <a:ext cx="5121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PASTE A JOB DESCRIPTION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520" y="2266880"/>
            <a:ext cx="9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Employer *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31520" y="2506880"/>
            <a:ext cx="5121360" cy="3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22920" y="2576880"/>
            <a:ext cx="49585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FWD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" y="2936880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Role (optional)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31520" y="3176880"/>
            <a:ext cx="5121360" cy="3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822920" y="3246880"/>
            <a:ext cx="49585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IT_Director_ResilienceModernization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520" y="3576880"/>
            <a:ext cx="5121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480"/>
                </a:solidFill>
                <a:latin typeface="Calibri"/>
              </a:rPr>
              <a:t>Job description saved  --  7,620 characters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3532880"/>
            <a:ext cx="1150000" cy="340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31520" y="3572880"/>
            <a:ext cx="115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Save JD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09120" y="1706880"/>
            <a:ext cx="5378955" cy="434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37720" y="1866880"/>
            <a:ext cx="492175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RUN JD PIPELINE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37720" y="2266880"/>
            <a:ext cx="9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JD File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537720" y="2506880"/>
            <a:ext cx="4921755" cy="3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6629120" y="2576880"/>
            <a:ext cx="475895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JD_FWD_IT_Director_ResilienceModernization.txt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37720" y="2936880"/>
            <a:ext cx="9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LLM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37720" y="3176880"/>
            <a:ext cx="2380877" cy="3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6629120" y="324688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Sonnet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78597" y="2936880"/>
            <a:ext cx="9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078597" y="3176880"/>
            <a:ext cx="2380877" cy="3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9249997" y="3246880"/>
            <a:ext cx="2230877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All (scorecard+resume+cover)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37720" y="3606880"/>
            <a:ext cx="492175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✓ Generate .docx        ☐ Refresh blueprint        ☐ Apply Resume Adjustments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7720" y="3966880"/>
            <a:ext cx="492175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Command Preview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537720" y="4206880"/>
            <a:ext cx="4921755" cy="6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6629120" y="4276880"/>
            <a:ext cx="4758955" cy="4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8BDF8"/>
                </a:solidFill>
                <a:latin typeface="Consolas"/>
              </a:rPr>
              <a:t>python scripts/jd_scorecard_resume_v2.py "data_raw/jd/txt/</a:t>
            </a:r>
          </a:p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8BDF8"/>
                </a:solidFill>
                <a:latin typeface="Consolas"/>
              </a:rPr>
              <a:t> JD_FWD_IT_Director_ResilienceModernization.txt" --llm=sonnet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537720" y="5056880"/>
            <a:ext cx="900000" cy="340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6537720" y="509688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JD Automation Portal (live, local)  |  John Hau  |  23 Jul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40"/>
          <p:cNvSpPr/>
          <p:nvPr/>
        </p:nvSpPr>
        <p:spPr>
          <a:xfrm>
            <a:off x="0" y="0"/>
            <a:ext cx="12191695" cy="460000"/>
          </a:xfrm>
          <a:prstGeom prst="rect">
            <a:avLst/>
          </a:prstGeom>
          <a:solidFill>
            <a:srgbClr val="05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1"/>
          <p:cNvSpPr/>
          <p:nvPr/>
        </p:nvSpPr>
        <p:spPr>
          <a:xfrm>
            <a:off x="502920" y="100000"/>
            <a:ext cx="260000" cy="260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392920" y="135000"/>
            <a:ext cx="4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0000" y="13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Automation Portal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00000" y="130000"/>
            <a:ext cx="2688775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480"/>
                </a:solidFill>
                <a:latin typeface="Calibri"/>
              </a:rPr>
              <a:t>Back to Career Copilot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9/9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2920" y="560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LIVE DEMO  --  2 OF 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2920" y="850000"/>
            <a:ext cx="105156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 Real Result, End to End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02920" y="1300000"/>
            <a:ext cx="10515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The FWD run above, seconds later -- saved automatically, organized by employer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02920" y="1706880"/>
            <a:ext cx="1450000" cy="3400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502920" y="1780000"/>
            <a:ext cx="14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New JD Run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030000" y="1706880"/>
            <a:ext cx="1050000" cy="34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2030000" y="1780000"/>
            <a:ext cx="10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History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02920" y="2200000"/>
            <a:ext cx="11185855" cy="420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731520" y="236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RUN HISTORY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31520" y="2760000"/>
            <a:ext cx="10728655" cy="50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6"/>
          <p:cNvSpPr txBox="1"/>
          <p:nvPr/>
        </p:nvSpPr>
        <p:spPr>
          <a:xfrm>
            <a:off x="902920" y="2830000"/>
            <a:ext cx="2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FWD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2920" y="3060000"/>
            <a:ext cx="3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IT_Director_ResilienceModernization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720175" y="2870000"/>
            <a:ext cx="1900000" cy="300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9"/>
          <p:cNvSpPr txBox="1"/>
          <p:nvPr/>
        </p:nvSpPr>
        <p:spPr>
          <a:xfrm>
            <a:off x="8720175" y="2910000"/>
            <a:ext cx="19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0A5FA"/>
                </a:solidFill>
                <a:latin typeface="Calibri"/>
              </a:rPr>
              <a:t>52 / 100 -- PARTIAL MATCH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710175" y="2910000"/>
            <a:ext cx="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480"/>
                </a:solidFill>
                <a:latin typeface="Calibri"/>
              </a:rPr>
              <a:t>23JUL2026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31520" y="3320000"/>
            <a:ext cx="1750000" cy="28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731520" y="3350000"/>
            <a:ext cx="1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  <a:latin typeface="Calibri"/>
              </a:rPr>
              <a:t>Scorecard (.txt)</a:t>
            </a:r>
          </a:p>
        </p:txBody>
      </p:sp>
      <p:sp>
        <p:nvSpPr>
          <p:cNvPr id="63" name="Rectangle 63"/>
          <p:cNvSpPr/>
          <p:nvPr/>
        </p:nvSpPr>
        <p:spPr>
          <a:xfrm>
            <a:off x="2571520" y="3320000"/>
            <a:ext cx="1750000" cy="28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4"/>
          <p:cNvSpPr txBox="1"/>
          <p:nvPr/>
        </p:nvSpPr>
        <p:spPr>
          <a:xfrm>
            <a:off x="2571520" y="3350000"/>
            <a:ext cx="1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  <a:latin typeface="Calibri"/>
              </a:rPr>
              <a:t>Scorecard (.docx)</a:t>
            </a:r>
          </a:p>
        </p:txBody>
      </p:sp>
      <p:sp>
        <p:nvSpPr>
          <p:cNvPr id="65" name="Rectangle 65"/>
          <p:cNvSpPr/>
          <p:nvPr/>
        </p:nvSpPr>
        <p:spPr>
          <a:xfrm>
            <a:off x="4411520" y="3320000"/>
            <a:ext cx="1450000" cy="28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6"/>
          <p:cNvSpPr txBox="1"/>
          <p:nvPr/>
        </p:nvSpPr>
        <p:spPr>
          <a:xfrm>
            <a:off x="4411520" y="3350000"/>
            <a:ext cx="14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  <a:latin typeface="Calibri"/>
              </a:rPr>
              <a:t>Resume (.txt)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951520" y="3320000"/>
            <a:ext cx="1450000" cy="28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5951520" y="3350000"/>
            <a:ext cx="14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  <a:latin typeface="Calibri"/>
              </a:rPr>
              <a:t>Resume (.docx)</a:t>
            </a:r>
          </a:p>
        </p:txBody>
      </p:sp>
      <p:sp>
        <p:nvSpPr>
          <p:cNvPr id="69" name="Rectangle 69"/>
          <p:cNvSpPr/>
          <p:nvPr/>
        </p:nvSpPr>
        <p:spPr>
          <a:xfrm>
            <a:off x="7491520" y="3320000"/>
            <a:ext cx="1750000" cy="28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7491520" y="3350000"/>
            <a:ext cx="1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  <a:latin typeface="Calibri"/>
              </a:rPr>
              <a:t>Cover Letter (.txt)</a:t>
            </a:r>
          </a:p>
        </p:txBody>
      </p:sp>
      <p:sp>
        <p:nvSpPr>
          <p:cNvPr id="71" name="Rectangle 71"/>
          <p:cNvSpPr/>
          <p:nvPr/>
        </p:nvSpPr>
        <p:spPr>
          <a:xfrm>
            <a:off x="9331520" y="3320000"/>
            <a:ext cx="1750000" cy="28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9331520" y="3350000"/>
            <a:ext cx="1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  <a:latin typeface="Calibri"/>
              </a:rPr>
              <a:t>Cover Letter (.docx)</a:t>
            </a:r>
          </a:p>
        </p:txBody>
      </p:sp>
      <p:sp>
        <p:nvSpPr>
          <p:cNvPr id="73" name="Rectangle 73"/>
          <p:cNvSpPr/>
          <p:nvPr/>
        </p:nvSpPr>
        <p:spPr>
          <a:xfrm>
            <a:off x="731520" y="3740000"/>
            <a:ext cx="10728655" cy="1900000"/>
          </a:xfrm>
          <a:prstGeom prst="rect">
            <a:avLst/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4"/>
          <p:cNvSpPr txBox="1"/>
          <p:nvPr/>
        </p:nvSpPr>
        <p:spPr>
          <a:xfrm>
            <a:off x="902920" y="3870000"/>
            <a:ext cx="10378655" cy="16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JD MATCH SCORECARD -- FWD | IT_DIRECTOR_RESILIENCEMODERNIZATION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CA3AF"/>
                </a:solidFill>
                <a:latin typeface="Calibri"/>
              </a:rPr>
              <a:t>Generated : 2026-07-23 18:47  |  Model: anthropic/claude-opus-4.8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CA3AF"/>
                </a:solidFill>
                <a:latin typeface="Calibri"/>
              </a:rPr>
              <a:t>Candidate : John Hau</a:t>
            </a:r>
          </a:p>
          <a:p>
            <a:pPr algn="l">
              <a:lnSpc>
                <a:spcPct val="130000"/>
              </a:lnSpc>
            </a:pPr>
            <a:endParaRPr sz="900" b="0" i="0">
              <a:solidFill>
                <a:srgbClr val="9CA3AF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0A5FA"/>
                </a:solidFill>
                <a:latin typeface="Calibri"/>
              </a:rPr>
              <a:t>1. ROLE &amp; COMPANY SUMMARY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FWD Group is seeking a Group-level executive to own enterprise-wide IT resilience,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service reliability, and platform modernization across infrastructure, multi-cloud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environments, and core system applications for a pan-Asian life &amp; health insurer.</a:t>
            </a:r>
          </a:p>
        </p:txBody>
      </p:sp>
      <p:sp>
        <p:nvSpPr>
          <p:cNvPr id="75" name="Rectangle 75"/>
          <p:cNvSpPr/>
          <p:nvPr/>
        </p:nvSpPr>
        <p:spPr>
          <a:xfrm>
            <a:off x="731520" y="5840000"/>
            <a:ext cx="10728655" cy="4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902920" y="5940000"/>
            <a:ext cx="2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Prudential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431575" y="5940000"/>
            <a:ext cx="6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3 runs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31520" y="6340000"/>
            <a:ext cx="10728655" cy="420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9"/>
          <p:cNvSpPr txBox="1"/>
          <p:nvPr/>
        </p:nvSpPr>
        <p:spPr>
          <a:xfrm>
            <a:off x="902920" y="6440000"/>
            <a:ext cx="2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Manulife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431575" y="6440000"/>
            <a:ext cx="6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3 runs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JD Automation Portal (live, local)  |  John Hau  |  23 Jul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1609</Words>
  <Application>Microsoft Office PowerPoint</Application>
  <PresentationFormat>Widescreen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Hau</cp:lastModifiedBy>
  <cp:revision>1</cp:revision>
  <dcterms:created xsi:type="dcterms:W3CDTF">2013-01-27T09:14:16Z</dcterms:created>
  <dcterms:modified xsi:type="dcterms:W3CDTF">2026-07-23T11:44:18Z</dcterms:modified>
  <cp:category/>
</cp:coreProperties>
</file>